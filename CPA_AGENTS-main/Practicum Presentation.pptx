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8.svg" ContentType="image/svg+xml"/>
  <Override PartName="/ppt/media/image2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74" r:id="rId3"/>
    <p:sldId id="277" r:id="rId4"/>
    <p:sldId id="270" r:id="rId5"/>
    <p:sldId id="273" r:id="rId6"/>
    <p:sldId id="258" r:id="rId7"/>
    <p:sldId id="262" r:id="rId8"/>
    <p:sldId id="257" r:id="rId10"/>
    <p:sldId id="263" r:id="rId11"/>
    <p:sldId id="27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5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1"/>
    <p:restoredTop sz="92123"/>
  </p:normalViewPr>
  <p:slideViewPr>
    <p:cSldViewPr snapToGrid="0">
      <p:cViewPr varScale="1">
        <p:scale>
          <a:sx n="94" d="100"/>
          <a:sy n="94" d="100"/>
        </p:scale>
        <p:origin x="22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25ED9-4595-6444-A982-D5D9E9B893C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92D1B-DE4B-0A48-B6D6-E44F556B81B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name of the system.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description of the problem that you were addressing.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outline of the solution.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demo of the system in action.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description of the system at an architectural level.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discussion of any problems that you encountered and how you over came them.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discussion of future work.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92D1B-DE4B-0A48-B6D6-E44F556B81B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4_Title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466" t="-148" r="7377" b="148"/>
          <a:stretch>
            <a:fillRect/>
          </a:stretch>
        </p:blipFill>
        <p:spPr>
          <a:xfrm>
            <a:off x="2544076" y="-1"/>
            <a:ext cx="9650579" cy="6858000"/>
          </a:xfrm>
          <a:prstGeom prst="rect">
            <a:avLst/>
          </a:prstGeom>
        </p:spPr>
      </p:pic>
      <p:pic>
        <p:nvPicPr>
          <p:cNvPr id="8" name="Picture 7" descr="A black and purple rectangle&#10;&#10;Description automatically generated"/>
          <p:cNvPicPr>
            <a:picLocks noChangeAspect="1"/>
          </p:cNvPicPr>
          <p:nvPr/>
        </p:nvPicPr>
        <p:blipFill rotWithShape="1">
          <a:blip r:embed="rId4"/>
          <a:srcRect r="26250"/>
          <a:stretch>
            <a:fillRect/>
          </a:stretch>
        </p:blipFill>
        <p:spPr>
          <a:xfrm>
            <a:off x="0" y="0"/>
            <a:ext cx="8991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418" y="2011680"/>
            <a:ext cx="6232649" cy="2387600"/>
          </a:xfrm>
        </p:spPr>
        <p:txBody>
          <a:bodyPr anchor="b"/>
          <a:lstStyle>
            <a:lvl1pPr algn="l">
              <a:defRPr sz="5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416" y="4450080"/>
            <a:ext cx="8350251" cy="8060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48644" y="5968182"/>
            <a:ext cx="3054955" cy="379777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n-lt"/>
              </a:defRPr>
            </a:lvl1pPr>
            <a:lvl2pPr>
              <a:defRPr sz="1065" b="0" i="0">
                <a:latin typeface="Aptos Light" panose="020B0004020202020204" pitchFamily="34" charset="0"/>
              </a:defRPr>
            </a:lvl2pPr>
            <a:lvl3pPr marL="8255" indent="0">
              <a:buNone/>
              <a:defRPr sz="1065" b="0" i="0">
                <a:latin typeface="Aptos Light" panose="020B0004020202020204" pitchFamily="34" charset="0"/>
              </a:defRPr>
            </a:lvl3pPr>
            <a:lvl4pPr marL="233045" indent="0">
              <a:buNone/>
              <a:defRPr sz="1065" b="0" i="0">
                <a:latin typeface="Aptos Light" panose="020B0004020202020204" pitchFamily="34" charset="0"/>
              </a:defRPr>
            </a:lvl4pPr>
            <a:lvl5pPr marL="459105" indent="0">
              <a:buNone/>
              <a:defRPr sz="1065"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 dirty="0"/>
              <a:t>Date goes here</a:t>
            </a:r>
            <a:endParaRPr lang="en-US" dirty="0"/>
          </a:p>
        </p:txBody>
      </p:sp>
      <p:pic>
        <p:nvPicPr>
          <p:cNvPr id="11" name="Picture 10" descr="A close-up of a black background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2" y="313267"/>
            <a:ext cx="2257273" cy="421109"/>
          </a:xfrm>
          <a:prstGeom prst="rect">
            <a:avLst/>
          </a:prstGeom>
        </p:spPr>
      </p:pic>
      <p:pic>
        <p:nvPicPr>
          <p:cNvPr id="9" name="Picture 8" descr="A close-up of a black background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2" y="313267"/>
            <a:ext cx="2257273" cy="421109"/>
          </a:xfrm>
          <a:prstGeom prst="rect">
            <a:avLst/>
          </a:prstGeom>
        </p:spPr>
      </p:pic>
      <p:pic>
        <p:nvPicPr>
          <p:cNvPr id="4" name="Picture 3" descr="A close-up of a black background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2" y="313267"/>
            <a:ext cx="2257273" cy="421109"/>
          </a:xfrm>
          <a:prstGeom prst="rect">
            <a:avLst/>
          </a:prstGeom>
        </p:spPr>
      </p:pic>
      <p:pic>
        <p:nvPicPr>
          <p:cNvPr id="5" name="Picture 4" descr="A close-up of a black background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2" y="313267"/>
            <a:ext cx="2257273" cy="421109"/>
          </a:xfrm>
          <a:prstGeom prst="rect">
            <a:avLst/>
          </a:prstGeom>
        </p:spPr>
      </p:pic>
      <p:pic>
        <p:nvPicPr>
          <p:cNvPr id="7" name="Picture 6" descr="A close-up of a black background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2" y="313267"/>
            <a:ext cx="2257273" cy="4211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418" y="2505665"/>
            <a:ext cx="6232649" cy="2387600"/>
          </a:xfrm>
        </p:spPr>
        <p:txBody>
          <a:bodyPr anchor="b"/>
          <a:lstStyle>
            <a:lvl1pPr algn="l">
              <a:defRPr sz="5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416" y="4945703"/>
            <a:ext cx="5217583" cy="8060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65760" y="5971032"/>
            <a:ext cx="3054096" cy="379777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n-lt"/>
              </a:defRPr>
            </a:lvl1pPr>
            <a:lvl2pPr>
              <a:defRPr sz="1065" b="0" i="0">
                <a:latin typeface="Aptos Light" panose="020B0004020202020204" pitchFamily="34" charset="0"/>
              </a:defRPr>
            </a:lvl2pPr>
            <a:lvl3pPr marL="8255" indent="0">
              <a:buNone/>
              <a:defRPr sz="1065" b="0" i="0">
                <a:latin typeface="Aptos Light" panose="020B0004020202020204" pitchFamily="34" charset="0"/>
              </a:defRPr>
            </a:lvl3pPr>
            <a:lvl4pPr marL="233045" indent="0">
              <a:buNone/>
              <a:defRPr sz="1065" b="0" i="0">
                <a:latin typeface="Aptos Light" panose="020B0004020202020204" pitchFamily="34" charset="0"/>
              </a:defRPr>
            </a:lvl4pPr>
            <a:lvl5pPr marL="459105" indent="0">
              <a:buNone/>
              <a:defRPr sz="1065"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 dirty="0"/>
              <a:t>Date goes here</a:t>
            </a:r>
            <a:endParaRPr lang="en-US" dirty="0"/>
          </a:p>
        </p:txBody>
      </p:sp>
      <p:pic>
        <p:nvPicPr>
          <p:cNvPr id="11" name="Picture 10" descr="A close-up of a black background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12" y="313267"/>
            <a:ext cx="2257273" cy="421109"/>
          </a:xfrm>
          <a:prstGeom prst="rect">
            <a:avLst/>
          </a:prstGeom>
        </p:spPr>
      </p:pic>
      <p:pic>
        <p:nvPicPr>
          <p:cNvPr id="8" name="Picture 7" descr="A close-up of a black background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12" y="313267"/>
            <a:ext cx="2257273" cy="4211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7" name="Picture 6" descr="A black and purple rectangle&#10;&#10;Description automatically generated"/>
          <p:cNvPicPr>
            <a:picLocks noChangeAspect="1"/>
          </p:cNvPicPr>
          <p:nvPr/>
        </p:nvPicPr>
        <p:blipFill rotWithShape="1">
          <a:blip r:embed="rId2"/>
          <a:srcRect r="26250"/>
          <a:stretch>
            <a:fillRect/>
          </a:stretch>
        </p:blipFill>
        <p:spPr>
          <a:xfrm>
            <a:off x="0" y="0"/>
            <a:ext cx="8991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419" y="2505665"/>
            <a:ext cx="6072584" cy="2387600"/>
          </a:xfrm>
        </p:spPr>
        <p:txBody>
          <a:bodyPr anchor="b"/>
          <a:lstStyle>
            <a:lvl1pPr algn="l">
              <a:defRPr sz="4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418" y="4945703"/>
            <a:ext cx="6072587" cy="8060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189" y="0"/>
            <a:ext cx="11453628" cy="1143000"/>
          </a:xfrm>
        </p:spPr>
        <p:txBody>
          <a:bodyPr/>
          <a:lstStyle>
            <a:lvl1pPr>
              <a:lnSpc>
                <a:spcPct val="90000"/>
              </a:lnSpc>
              <a:defRPr spc="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89" y="1960537"/>
            <a:ext cx="11453628" cy="4376468"/>
          </a:xfrm>
        </p:spPr>
        <p:txBody>
          <a:bodyPr/>
          <a:lstStyle>
            <a:lvl1pPr>
              <a:lnSpc>
                <a:spcPct val="114000"/>
              </a:lnSpc>
              <a:spcAft>
                <a:spcPts val="400"/>
              </a:spcAft>
              <a:defRPr sz="1800"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72534" y="1170432"/>
            <a:ext cx="11453627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-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 spc="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89" y="1956816"/>
            <a:ext cx="5559552" cy="4456684"/>
          </a:xfrm>
        </p:spPr>
        <p:txBody>
          <a:bodyPr/>
          <a:lstStyle>
            <a:lvl1pPr>
              <a:lnSpc>
                <a:spcPct val="114000"/>
              </a:lnSpc>
              <a:spcAft>
                <a:spcPts val="400"/>
              </a:spcAft>
              <a:defRPr sz="1800"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72534" y="1170432"/>
            <a:ext cx="11453627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6272784" y="1956816"/>
            <a:ext cx="5559552" cy="4456684"/>
          </a:xfrm>
        </p:spPr>
        <p:txBody>
          <a:bodyPr/>
          <a:lstStyle>
            <a:lvl1pPr>
              <a:lnSpc>
                <a:spcPct val="114000"/>
              </a:lnSpc>
              <a:spcAft>
                <a:spcPts val="400"/>
              </a:spcAft>
              <a:defRPr sz="1800"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188" y="0"/>
            <a:ext cx="7708392" cy="1143000"/>
          </a:xfrm>
        </p:spPr>
        <p:txBody>
          <a:bodyPr/>
          <a:lstStyle>
            <a:lvl1pPr>
              <a:defRPr spc="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89" y="1956816"/>
            <a:ext cx="6690764" cy="4456684"/>
          </a:xfrm>
        </p:spPr>
        <p:txBody>
          <a:bodyPr/>
          <a:lstStyle>
            <a:lvl1pPr>
              <a:lnSpc>
                <a:spcPct val="114000"/>
              </a:lnSpc>
              <a:spcAft>
                <a:spcPts val="400"/>
              </a:spcAft>
              <a:defRPr/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8077200" y="0"/>
            <a:ext cx="4114800" cy="6553200"/>
          </a:xfrm>
          <a:noFill/>
        </p:spPr>
        <p:txBody>
          <a:bodyPr>
            <a:normAutofit/>
          </a:bodyPr>
          <a:lstStyle>
            <a:lvl1pPr>
              <a:defRPr sz="1200" b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74904" y="1170432"/>
            <a:ext cx="7711016" cy="573617"/>
          </a:xfrm>
        </p:spPr>
        <p:txBody>
          <a:bodyPr/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-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2189" y="4528393"/>
            <a:ext cx="5556663" cy="158371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170432"/>
            <a:ext cx="11453628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475488" y="2030650"/>
            <a:ext cx="5099049" cy="2438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5"/>
          </p:nvPr>
        </p:nvSpPr>
        <p:spPr>
          <a:xfrm>
            <a:off x="6264989" y="4528393"/>
            <a:ext cx="5556663" cy="158371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18"/>
          <p:cNvSpPr>
            <a:spLocks noGrp="1"/>
          </p:cNvSpPr>
          <p:nvPr>
            <p:ph type="pic" sz="quarter" idx="16"/>
          </p:nvPr>
        </p:nvSpPr>
        <p:spPr>
          <a:xfrm>
            <a:off x="6364224" y="2030650"/>
            <a:ext cx="5099049" cy="2438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p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2189" y="1956816"/>
            <a:ext cx="5556663" cy="4120427"/>
          </a:xfrm>
        </p:spPr>
        <p:txBody>
          <a:bodyPr bIns="137160" anchor="ctr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170432"/>
            <a:ext cx="5556663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096001" y="1637770"/>
            <a:ext cx="5729817" cy="477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s-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89" y="1956816"/>
            <a:ext cx="3520440" cy="4453128"/>
          </a:xfrm>
        </p:spPr>
        <p:txBody>
          <a:bodyPr/>
          <a:lstStyle>
            <a:lvl1pPr>
              <a:lnSpc>
                <a:spcPct val="114000"/>
              </a:lnSpc>
              <a:spcAft>
                <a:spcPts val="400"/>
              </a:spcAft>
              <a:defRPr sz="1800"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72534" y="1170432"/>
            <a:ext cx="11453627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4"/>
          </p:nvPr>
        </p:nvSpPr>
        <p:spPr>
          <a:xfrm>
            <a:off x="8307149" y="1956816"/>
            <a:ext cx="3520440" cy="4453128"/>
          </a:xfrm>
        </p:spPr>
        <p:txBody>
          <a:bodyPr/>
          <a:lstStyle>
            <a:lvl1pPr>
              <a:lnSpc>
                <a:spcPct val="114000"/>
              </a:lnSpc>
              <a:spcAft>
                <a:spcPts val="400"/>
              </a:spcAft>
              <a:defRPr sz="1800"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4339669" y="1956816"/>
            <a:ext cx="3520440" cy="4453128"/>
          </a:xfrm>
        </p:spPr>
        <p:txBody>
          <a:bodyPr/>
          <a:lstStyle>
            <a:lvl1pPr>
              <a:lnSpc>
                <a:spcPct val="114000"/>
              </a:lnSpc>
              <a:spcAft>
                <a:spcPts val="400"/>
              </a:spcAft>
              <a:defRPr sz="1800"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s-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2044904"/>
            <a:ext cx="12192000" cy="33948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5335" y="1456352"/>
            <a:ext cx="3520440" cy="4572000"/>
          </a:xfrm>
          <a:solidFill>
            <a:schemeClr val="bg1">
              <a:lumMod val="95000"/>
            </a:schemeClr>
          </a:solidFill>
          <a:ln w="25400">
            <a:solidFill>
              <a:schemeClr val="tx2"/>
            </a:solidFill>
          </a:ln>
        </p:spPr>
        <p:txBody>
          <a:bodyPr lIns="164592" tIns="137160" rIns="164592">
            <a:noAutofit/>
          </a:bodyPr>
          <a:lstStyle>
            <a:lvl1pPr algn="ctr">
              <a:lnSpc>
                <a:spcPct val="114000"/>
              </a:lnSpc>
              <a:spcAft>
                <a:spcPts val="400"/>
              </a:spcAft>
              <a:defRPr/>
            </a:lvl1pPr>
            <a:lvl2pPr algn="ctr"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3"/>
          </p:nvPr>
        </p:nvSpPr>
        <p:spPr>
          <a:xfrm>
            <a:off x="8191535" y="1456352"/>
            <a:ext cx="3520440" cy="4572000"/>
          </a:xfrm>
          <a:solidFill>
            <a:schemeClr val="bg1">
              <a:lumMod val="95000"/>
            </a:schemeClr>
          </a:solidFill>
          <a:ln w="25400">
            <a:solidFill>
              <a:schemeClr val="tx2"/>
            </a:solidFill>
          </a:ln>
        </p:spPr>
        <p:txBody>
          <a:bodyPr lIns="164592" tIns="137160" rIns="164592">
            <a:noAutofit/>
          </a:bodyPr>
          <a:lstStyle>
            <a:lvl1pPr algn="ctr">
              <a:lnSpc>
                <a:spcPct val="114000"/>
              </a:lnSpc>
              <a:spcAft>
                <a:spcPts val="400"/>
              </a:spcAft>
              <a:defRPr/>
            </a:lvl1pPr>
            <a:lvl2pPr algn="ctr"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4"/>
          </p:nvPr>
        </p:nvSpPr>
        <p:spPr>
          <a:xfrm>
            <a:off x="4338435" y="1456352"/>
            <a:ext cx="3520440" cy="4572000"/>
          </a:xfrm>
          <a:solidFill>
            <a:schemeClr val="bg1">
              <a:lumMod val="95000"/>
            </a:schemeClr>
          </a:solidFill>
          <a:ln w="25400">
            <a:solidFill>
              <a:schemeClr val="tx2"/>
            </a:solidFill>
          </a:ln>
        </p:spPr>
        <p:txBody>
          <a:bodyPr lIns="164592" tIns="137160" rIns="164592">
            <a:noAutofit/>
          </a:bodyPr>
          <a:lstStyle>
            <a:lvl1pPr algn="ctr">
              <a:lnSpc>
                <a:spcPct val="114000"/>
              </a:lnSpc>
              <a:spcAft>
                <a:spcPts val="400"/>
              </a:spcAft>
              <a:defRPr/>
            </a:lvl1pPr>
            <a:lvl2pPr algn="ctr"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Type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 hasCustomPrompt="1"/>
          </p:nvPr>
        </p:nvSpPr>
        <p:spPr>
          <a:xfrm>
            <a:off x="457201" y="1885506"/>
            <a:ext cx="11277599" cy="453222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72534" y="1170432"/>
            <a:ext cx="11453627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Sub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72534" y="1170432"/>
            <a:ext cx="11453627" cy="5736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 i="0">
                <a:latin typeface="+mn-lt"/>
              </a:defRPr>
            </a:lvl1pPr>
            <a:lvl3pPr marL="8255" indent="0">
              <a:buNone/>
              <a:defRPr/>
            </a:lvl3pPr>
            <a:lvl4pPr marL="233045" indent="0">
              <a:buNone/>
              <a:defRPr/>
            </a:lvl4pPr>
            <a:lvl5pPr marL="459105" indent="0">
              <a:buNone/>
              <a:defRPr/>
            </a:lvl5pPr>
          </a:lstStyle>
          <a:p>
            <a:pPr lvl="0"/>
            <a:r>
              <a:rPr lang="en-US" dirty="0"/>
              <a:t>Subhead if necessary</a:t>
            </a:r>
            <a:endParaRPr lang="en-US" dirty="0"/>
          </a:p>
        </p:txBody>
      </p:sp>
      <p:sp>
        <p:nvSpPr>
          <p:cNvPr id="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46640" y="6583477"/>
            <a:ext cx="497708" cy="275167"/>
          </a:xfrm>
          <a:prstGeom prst="rect">
            <a:avLst/>
          </a:prstGeom>
        </p:spPr>
        <p:txBody>
          <a:bodyPr anchor="ctr" anchorCtr="0"/>
          <a:lstStyle>
            <a:lvl1pPr algn="r">
              <a:defRPr sz="930" b="1">
                <a:solidFill>
                  <a:schemeClr val="bg1"/>
                </a:solidFill>
              </a:defRPr>
            </a:lvl1pPr>
          </a:lstStyle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12" t="-148" r="7377" b="148"/>
          <a:stretch>
            <a:fillRect/>
          </a:stretch>
        </p:blipFill>
        <p:spPr>
          <a:xfrm>
            <a:off x="-7147" y="1"/>
            <a:ext cx="8941484" cy="6858001"/>
          </a:xfrm>
          <a:prstGeom prst="rect">
            <a:avLst/>
          </a:prstGeom>
        </p:spPr>
      </p:pic>
      <p:pic>
        <p:nvPicPr>
          <p:cNvPr id="10" name="Graphic 9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t="1633" r="28586"/>
          <a:stretch>
            <a:fillRect/>
          </a:stretch>
        </p:blipFill>
        <p:spPr>
          <a:xfrm>
            <a:off x="2752898" y="0"/>
            <a:ext cx="9439103" cy="686819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47021" y="5298724"/>
            <a:ext cx="2257273" cy="4211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1" y="606689"/>
            <a:ext cx="5729817" cy="2387600"/>
          </a:xfrm>
        </p:spPr>
        <p:txBody>
          <a:bodyPr rIns="73152" anchor="b"/>
          <a:lstStyle>
            <a:lvl1pPr algn="r">
              <a:defRPr sz="5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47021" y="5298724"/>
            <a:ext cx="2257273" cy="4211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47021" y="5298724"/>
            <a:ext cx="2257273" cy="4211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47021" y="5298724"/>
            <a:ext cx="2257273" cy="4211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47021" y="5298724"/>
            <a:ext cx="2257273" cy="4211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0C586-22D0-5749-8F84-70895464460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0C586-22D0-5749-8F84-70895464460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BF7C-B508-D943-89A9-91137A516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2.svg"/><Relationship Id="rId20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0.svg"/><Relationship Id="rId18" Type="http://schemas.openxmlformats.org/officeDocument/2006/relationships/image" Target="../media/image5.png"/><Relationship Id="rId17" Type="http://schemas.openxmlformats.org/officeDocument/2006/relationships/image" Target="../media/image9.svg"/><Relationship Id="rId16" Type="http://schemas.openxmlformats.org/officeDocument/2006/relationships/image" Target="../media/image8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2189" y="0"/>
            <a:ext cx="11453628" cy="1143000"/>
          </a:xfrm>
          <a:prstGeom prst="rect">
            <a:avLst/>
          </a:prstGeom>
        </p:spPr>
        <p:txBody>
          <a:bodyPr vert="horz" lIns="73152" tIns="45720" rIns="91440" bIns="45720" rtlCol="0" anchor="b" anchorCtr="0">
            <a:noAutofit/>
          </a:bodyPr>
          <a:lstStyle/>
          <a:p>
            <a:r>
              <a:rPr lang="en-US" dirty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189" y="2622003"/>
            <a:ext cx="11453628" cy="3554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5782" y="6658064"/>
            <a:ext cx="1670904" cy="103257"/>
          </a:xfrm>
          <a:prstGeom prst="rect">
            <a:avLst/>
          </a:prstGeom>
        </p:spPr>
      </p:pic>
      <p:pic>
        <p:nvPicPr>
          <p:cNvPr id="19" name="Graphic 18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5782" y="6658064"/>
            <a:ext cx="1670904" cy="10325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" y="6554538"/>
            <a:ext cx="12192000" cy="304800"/>
          </a:xfrm>
          <a:prstGeom prst="rect">
            <a:avLst/>
          </a:prstGeom>
          <a:gradFill>
            <a:gsLst>
              <a:gs pos="23000">
                <a:srgbClr val="38175A"/>
              </a:gs>
              <a:gs pos="48000">
                <a:srgbClr val="4E2A8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26" name="Graphic 25"/>
          <p:cNvPicPr>
            <a:picLocks noChangeAspect="1"/>
          </p:cNvPicPr>
          <p:nvPr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28799" t="85341" b="592"/>
          <a:stretch>
            <a:fillRect/>
          </a:stretch>
        </p:blipFill>
        <p:spPr>
          <a:xfrm>
            <a:off x="0" y="6556376"/>
            <a:ext cx="2829489" cy="301624"/>
          </a:xfrm>
          <a:prstGeom prst="rect">
            <a:avLst/>
          </a:prstGeom>
        </p:spPr>
      </p:pic>
      <p:sp>
        <p:nvSpPr>
          <p:cNvPr id="27" name="Footer Placeholder 2"/>
          <p:cNvSpPr txBox="1"/>
          <p:nvPr/>
        </p:nvSpPr>
        <p:spPr>
          <a:xfrm>
            <a:off x="4450471" y="6598308"/>
            <a:ext cx="6908800" cy="2692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5" baseline="0" dirty="0">
                <a:solidFill>
                  <a:schemeClr val="bg1"/>
                </a:solidFill>
                <a:latin typeface="Century Gothic" panose="020B0502020202020204" pitchFamily="34" charset="0"/>
              </a:rPr>
              <a:t>Leading the way to better care</a:t>
            </a:r>
            <a:endParaRPr lang="en-US" sz="935" baseline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Graphic 27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421645" y="6655750"/>
            <a:ext cx="97536" cy="121920"/>
          </a:xfrm>
          <a:prstGeom prst="rect">
            <a:avLst/>
          </a:prstGeom>
        </p:spPr>
      </p:pic>
      <p:pic>
        <p:nvPicPr>
          <p:cNvPr id="29" name="Graphic 28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9719" y="6659402"/>
            <a:ext cx="1670904" cy="10325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" y="6554538"/>
            <a:ext cx="12192000" cy="304800"/>
          </a:xfrm>
          <a:prstGeom prst="rect">
            <a:avLst/>
          </a:prstGeom>
          <a:gradFill>
            <a:gsLst>
              <a:gs pos="23000">
                <a:srgbClr val="38175A"/>
              </a:gs>
              <a:gs pos="48000">
                <a:srgbClr val="4E2A8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28799" t="85341" b="592"/>
          <a:stretch>
            <a:fillRect/>
          </a:stretch>
        </p:blipFill>
        <p:spPr>
          <a:xfrm>
            <a:off x="0" y="6556376"/>
            <a:ext cx="2829489" cy="301624"/>
          </a:xfrm>
          <a:prstGeom prst="rect">
            <a:avLst/>
          </a:prstGeom>
        </p:spPr>
      </p:pic>
      <p:sp>
        <p:nvSpPr>
          <p:cNvPr id="6" name="Footer Placeholder 2"/>
          <p:cNvSpPr txBox="1"/>
          <p:nvPr/>
        </p:nvSpPr>
        <p:spPr>
          <a:xfrm>
            <a:off x="4450471" y="6598308"/>
            <a:ext cx="6908800" cy="2692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5" baseline="0" dirty="0">
                <a:solidFill>
                  <a:schemeClr val="bg1"/>
                </a:solidFill>
                <a:latin typeface="Century Gothic" panose="020B0502020202020204" pitchFamily="34" charset="0"/>
              </a:rPr>
              <a:t>Leading the way to better care</a:t>
            </a:r>
            <a:endParaRPr lang="en-US" sz="935" baseline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421645" y="6655750"/>
            <a:ext cx="97536" cy="121920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9719" y="6659402"/>
            <a:ext cx="1670904" cy="10325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" y="6554538"/>
            <a:ext cx="12192000" cy="304800"/>
          </a:xfrm>
          <a:prstGeom prst="rect">
            <a:avLst/>
          </a:prstGeom>
          <a:gradFill>
            <a:gsLst>
              <a:gs pos="23000">
                <a:srgbClr val="38175A"/>
              </a:gs>
              <a:gs pos="48000">
                <a:srgbClr val="4E2A8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28799" t="85341" b="592"/>
          <a:stretch>
            <a:fillRect/>
          </a:stretch>
        </p:blipFill>
        <p:spPr>
          <a:xfrm>
            <a:off x="0" y="6556376"/>
            <a:ext cx="2829489" cy="301624"/>
          </a:xfrm>
          <a:prstGeom prst="rect">
            <a:avLst/>
          </a:prstGeom>
        </p:spPr>
      </p:pic>
      <p:sp>
        <p:nvSpPr>
          <p:cNvPr id="11" name="Footer Placeholder 2"/>
          <p:cNvSpPr txBox="1"/>
          <p:nvPr/>
        </p:nvSpPr>
        <p:spPr>
          <a:xfrm>
            <a:off x="4450471" y="6598308"/>
            <a:ext cx="6908800" cy="2692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5" baseline="0" dirty="0">
                <a:solidFill>
                  <a:schemeClr val="bg1"/>
                </a:solidFill>
                <a:latin typeface="Century Gothic" panose="020B0502020202020204" pitchFamily="34" charset="0"/>
              </a:rPr>
              <a:t>Leading the way to better care</a:t>
            </a:r>
            <a:endParaRPr lang="en-US" sz="935" baseline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421645" y="6655750"/>
            <a:ext cx="97536" cy="12192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9719" y="6659402"/>
            <a:ext cx="1670904" cy="103257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000"/>
        </a:spcBef>
        <a:spcAft>
          <a:spcPts val="400"/>
        </a:spcAft>
        <a:buFontTx/>
        <a:buNone/>
        <a:defRPr sz="1800" b="1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8255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Tx/>
        <a:buNone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233045" indent="-22415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7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459105" indent="-226695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7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694055" indent="-23495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7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hyperlink" Target="http://nucpa-bwcrbwasdeejhkhk.eastus-01.azurewebsites.net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418" y="2505665"/>
            <a:ext cx="6727067" cy="2387600"/>
          </a:xfrm>
        </p:spPr>
        <p:txBody>
          <a:bodyPr/>
          <a:lstStyle/>
          <a:p>
            <a:r>
              <a:rPr lang="en-US" dirty="0"/>
              <a:t>How are medical students trained to be doctors?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Education Highly Relies on Feedback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885885" y="2204612"/>
            <a:ext cx="4634895" cy="3058431"/>
          </a:xfrm>
        </p:spPr>
        <p:txBody>
          <a:bodyPr/>
          <a:lstStyle/>
          <a:p>
            <a:r>
              <a:rPr lang="en-US" dirty="0"/>
              <a:t>Medical students are observed in their interactions with patients by supervisors (physicians)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They receive </a:t>
            </a:r>
            <a:r>
              <a:rPr lang="en-US" b="1" dirty="0">
                <a:solidFill>
                  <a:schemeClr val="tx2"/>
                </a:solidFill>
              </a:rPr>
              <a:t>feedback forms </a:t>
            </a:r>
            <a:r>
              <a:rPr lang="en-US" dirty="0"/>
              <a:t>on their interaction, performance, diagnosis, clinical reasoning, communication, professionalism… among other things</a:t>
            </a:r>
            <a:endParaRPr lang="en-US" dirty="0"/>
          </a:p>
        </p:txBody>
      </p:sp>
      <p:pic>
        <p:nvPicPr>
          <p:cNvPr id="3" name="Graphic 2" descr="Hospital outlin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7951" y="2194127"/>
            <a:ext cx="2667420" cy="2667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Education Highly Relies on Feedback</a:t>
            </a:r>
            <a:endParaRPr lang="en-US" dirty="0"/>
          </a:p>
        </p:txBody>
      </p:sp>
      <p:sp>
        <p:nvSpPr>
          <p:cNvPr id="13" name="Text Placeholder 3"/>
          <p:cNvSpPr txBox="1"/>
          <p:nvPr/>
        </p:nvSpPr>
        <p:spPr>
          <a:xfrm>
            <a:off x="5950277" y="2775706"/>
            <a:ext cx="1827327" cy="1895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400"/>
              </a:spcAft>
              <a:buFontTx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304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5910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Feedback forms at NW are called Clinical Assessment Forms (CPAs)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Text Placeholder 3"/>
          <p:cNvSpPr txBox="1"/>
          <p:nvPr/>
        </p:nvSpPr>
        <p:spPr>
          <a:xfrm>
            <a:off x="7920700" y="5729708"/>
            <a:ext cx="2685407" cy="702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400"/>
              </a:spcAft>
              <a:buFontTx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304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5910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Subjective and Difficult to Interpret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49156" y="2194127"/>
            <a:ext cx="4634895" cy="3058431"/>
          </a:xfrm>
        </p:spPr>
        <p:txBody>
          <a:bodyPr/>
          <a:lstStyle/>
          <a:p>
            <a:r>
              <a:rPr lang="en-US" dirty="0"/>
              <a:t>Medical students are observed in their interactions with patients by supervisors (physicians)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They receive </a:t>
            </a:r>
            <a:r>
              <a:rPr lang="en-US" b="1" dirty="0">
                <a:solidFill>
                  <a:schemeClr val="tx2"/>
                </a:solidFill>
              </a:rPr>
              <a:t>feedback forms </a:t>
            </a:r>
            <a:r>
              <a:rPr lang="en-US" dirty="0"/>
              <a:t>on their interaction, performance, diagnosis, clinical reasoning, communication, professionalism… among other things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777604" y="1605442"/>
            <a:ext cx="3965240" cy="4124266"/>
            <a:chOff x="694378" y="313512"/>
            <a:chExt cx="7747257" cy="6230976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053"/>
            <a:stretch>
              <a:fillRect/>
            </a:stretch>
          </p:blipFill>
          <p:spPr bwMode="auto">
            <a:xfrm>
              <a:off x="694378" y="313512"/>
              <a:ext cx="7124405" cy="6230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5658678" y="3790122"/>
              <a:ext cx="2782957" cy="6758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991296" y="3961021"/>
            <a:ext cx="2078707" cy="148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13000"/>
              </a:lnSpc>
              <a:spcAft>
                <a:spcPts val="600"/>
              </a:spcAft>
              <a:buFontTx/>
              <a:buChar char="-"/>
            </a:pPr>
            <a:r>
              <a:rPr lang="en-US" sz="1200" dirty="0"/>
              <a:t>Filled out by different evaluators</a:t>
            </a:r>
            <a:endParaRPr lang="en-US" sz="1200" dirty="0"/>
          </a:p>
          <a:p>
            <a:pPr marL="285750" indent="-285750" algn="l">
              <a:lnSpc>
                <a:spcPct val="113000"/>
              </a:lnSpc>
              <a:spcAft>
                <a:spcPts val="600"/>
              </a:spcAft>
              <a:buFontTx/>
              <a:buChar char="-"/>
            </a:pPr>
            <a:r>
              <a:rPr lang="en-US" sz="1200" dirty="0"/>
              <a:t>Across different rotations</a:t>
            </a:r>
            <a:endParaRPr lang="en-US" sz="1200" dirty="0"/>
          </a:p>
          <a:p>
            <a:pPr marL="285750" indent="-285750" algn="l">
              <a:lnSpc>
                <a:spcPct val="113000"/>
              </a:lnSpc>
              <a:spcAft>
                <a:spcPts val="600"/>
              </a:spcAft>
              <a:buFontTx/>
              <a:buChar char="-"/>
            </a:pPr>
            <a:r>
              <a:rPr lang="en-US" sz="1200" dirty="0"/>
              <a:t>Text, numeric, Likert scale 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565"/>
          <a:stretch>
            <a:fillRect/>
          </a:stretch>
        </p:blipFill>
        <p:spPr bwMode="auto">
          <a:xfrm>
            <a:off x="2107094" y="1641169"/>
            <a:ext cx="7977809" cy="479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369185" y="291340"/>
            <a:ext cx="11453628" cy="1143000"/>
          </a:xfrm>
          <a:prstGeom prst="rect">
            <a:avLst/>
          </a:prstGeom>
        </p:spPr>
        <p:txBody>
          <a:bodyPr vert="horz" lIns="73152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spc="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The amount of feedback can be overwhelming, confusing and difficult to act on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189" y="285008"/>
            <a:ext cx="11453628" cy="1143000"/>
          </a:xfrm>
        </p:spPr>
        <p:txBody>
          <a:bodyPr/>
          <a:lstStyle/>
          <a:p>
            <a:r>
              <a:rPr lang="en-US" dirty="0"/>
              <a:t>Problem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10206" y="2338978"/>
            <a:ext cx="83715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Medical students receive feedback from multiple evaluators in varying formats (numeric vs text) across different settings, making it difficult to identify performance trends, strengths, and improvement areas.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5617" y="1447799"/>
            <a:ext cx="10760765" cy="980848"/>
          </a:xfrm>
        </p:spPr>
        <p:txBody>
          <a:bodyPr/>
          <a:lstStyle/>
          <a:p>
            <a:r>
              <a:rPr lang="en-US" dirty="0"/>
              <a:t>Student Feedback Analyzer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4124552"/>
            <a:ext cx="9144000" cy="1655762"/>
          </a:xfrm>
        </p:spPr>
        <p:txBody>
          <a:bodyPr/>
          <a:lstStyle/>
          <a:p>
            <a:r>
              <a:rPr lang="en-US" dirty="0"/>
              <a:t>Zelin Li</a:t>
            </a:r>
            <a:endParaRPr lang="en-US" dirty="0"/>
          </a:p>
          <a:p>
            <a:r>
              <a:rPr lang="en-US" dirty="0" err="1"/>
              <a:t>Weihao</a:t>
            </a:r>
            <a:r>
              <a:rPr lang="en-US" dirty="0"/>
              <a:t> He</a:t>
            </a:r>
            <a:endParaRPr lang="en-US" dirty="0"/>
          </a:p>
          <a:p>
            <a:r>
              <a:rPr lang="en-US" dirty="0"/>
              <a:t>Paola Barrios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25149" y="2598003"/>
            <a:ext cx="83715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Turning student feedback forms into actionable insights on student performance and growth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1" y="487663"/>
            <a:ext cx="12192000" cy="1143000"/>
          </a:xfrm>
        </p:spPr>
        <p:txBody>
          <a:bodyPr/>
          <a:lstStyle/>
          <a:p>
            <a:r>
              <a:rPr lang="en-US" b="1" dirty="0"/>
              <a:t>Initial Important Features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04191" y="2333021"/>
            <a:ext cx="110172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04191" y="3657599"/>
            <a:ext cx="110172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40295" y="2333021"/>
            <a:ext cx="5754756" cy="7023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Identifies trends over time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99859" y="3452036"/>
            <a:ext cx="6679097" cy="702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Does not prioritize more vs less experienced physician feedback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72336" y="4547063"/>
            <a:ext cx="6679097" cy="702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Integrates numeric scores with text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 wonder what I can get better at?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418" y="4945703"/>
            <a:ext cx="6613478" cy="806099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hlinkClick r:id="rId1"/>
              </a:rPr>
              <a:t>nucpa-MACAS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Graphic 4" descr="Doctor male outli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418" y="2505665"/>
            <a:ext cx="11938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8358" y="2214400"/>
            <a:ext cx="1965278" cy="357855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Student Query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1619" y="3480641"/>
            <a:ext cx="2842630" cy="63607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 All available feedback forms of that student 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412203" y="4485412"/>
            <a:ext cx="1965278" cy="357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Numeric scores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1867637" y="4910390"/>
            <a:ext cx="739659" cy="357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Text</a:t>
            </a:r>
            <a:endParaRPr lang="en-US" sz="1600" dirty="0"/>
          </a:p>
        </p:txBody>
      </p:sp>
      <p:grpSp>
        <p:nvGrpSpPr>
          <p:cNvPr id="9" name="Group 8"/>
          <p:cNvGrpSpPr/>
          <p:nvPr/>
        </p:nvGrpSpPr>
        <p:grpSpPr>
          <a:xfrm>
            <a:off x="347207" y="4239361"/>
            <a:ext cx="1298157" cy="1711979"/>
            <a:chOff x="694378" y="313512"/>
            <a:chExt cx="7747257" cy="6230976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053"/>
            <a:stretch>
              <a:fillRect/>
            </a:stretch>
          </p:blipFill>
          <p:spPr bwMode="auto">
            <a:xfrm>
              <a:off x="694378" y="313512"/>
              <a:ext cx="7124405" cy="6230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5658678" y="3790122"/>
              <a:ext cx="2782957" cy="6758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3" name="Straight Arrow Connector 12"/>
          <p:cNvCxnSpPr>
            <a:stCxn id="5" idx="3"/>
          </p:cNvCxnSpPr>
          <p:nvPr/>
        </p:nvCxnSpPr>
        <p:spPr>
          <a:xfrm>
            <a:off x="2523636" y="2393328"/>
            <a:ext cx="1284089" cy="369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044249" y="3357992"/>
            <a:ext cx="763476" cy="44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25987" y="2881435"/>
            <a:ext cx="1418431" cy="357855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Orchestrator</a:t>
            </a:r>
            <a:endParaRPr 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5584077" y="1437579"/>
            <a:ext cx="1748113" cy="63607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Data Ingestion Agent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5584076" y="2594545"/>
            <a:ext cx="1748113" cy="914289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Query Understanding Agent</a:t>
            </a: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5584077" y="4195222"/>
            <a:ext cx="1748113" cy="63607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Numeric Analysis Agent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584077" y="5240655"/>
            <a:ext cx="1748113" cy="71301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Free Text </a:t>
            </a:r>
            <a:endParaRPr lang="en-US" sz="1600" dirty="0"/>
          </a:p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Agent</a:t>
            </a:r>
            <a:endParaRPr lang="en-US" sz="1600" dirty="0"/>
          </a:p>
        </p:txBody>
      </p:sp>
      <p:cxnSp>
        <p:nvCxnSpPr>
          <p:cNvPr id="30" name="Straight Arrow Connector 29"/>
          <p:cNvCxnSpPr>
            <a:stCxn id="17" idx="3"/>
            <a:endCxn id="24" idx="1"/>
          </p:cNvCxnSpPr>
          <p:nvPr/>
        </p:nvCxnSpPr>
        <p:spPr>
          <a:xfrm flipV="1">
            <a:off x="4844418" y="3051690"/>
            <a:ext cx="739658" cy="8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7" idx="3"/>
            <a:endCxn id="23" idx="1"/>
          </p:cNvCxnSpPr>
          <p:nvPr/>
        </p:nvCxnSpPr>
        <p:spPr>
          <a:xfrm flipV="1">
            <a:off x="4844418" y="1755615"/>
            <a:ext cx="739659" cy="1304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7" idx="3"/>
            <a:endCxn id="25" idx="1"/>
          </p:cNvCxnSpPr>
          <p:nvPr/>
        </p:nvCxnSpPr>
        <p:spPr>
          <a:xfrm>
            <a:off x="4844418" y="3060363"/>
            <a:ext cx="739659" cy="1452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7" idx="3"/>
            <a:endCxn id="26" idx="1"/>
          </p:cNvCxnSpPr>
          <p:nvPr/>
        </p:nvCxnSpPr>
        <p:spPr>
          <a:xfrm>
            <a:off x="4844418" y="3060363"/>
            <a:ext cx="739659" cy="253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Brace 37"/>
          <p:cNvSpPr/>
          <p:nvPr/>
        </p:nvSpPr>
        <p:spPr>
          <a:xfrm>
            <a:off x="7642746" y="1637731"/>
            <a:ext cx="341194" cy="395943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138484" y="3260299"/>
            <a:ext cx="1496836" cy="63607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Consolidation Agent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9899046" y="3121190"/>
            <a:ext cx="1496836" cy="914289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Response Generation Agent</a:t>
            </a:r>
            <a:endParaRPr lang="en-US" sz="1600" dirty="0"/>
          </a:p>
        </p:txBody>
      </p:sp>
      <p:cxnSp>
        <p:nvCxnSpPr>
          <p:cNvPr id="42" name="Straight Arrow Connector 41"/>
          <p:cNvCxnSpPr>
            <a:stCxn id="40" idx="2"/>
          </p:cNvCxnSpPr>
          <p:nvPr/>
        </p:nvCxnSpPr>
        <p:spPr>
          <a:xfrm>
            <a:off x="10647464" y="4035479"/>
            <a:ext cx="0" cy="795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3"/>
            <a:endCxn id="40" idx="1"/>
          </p:cNvCxnSpPr>
          <p:nvPr/>
        </p:nvCxnSpPr>
        <p:spPr>
          <a:xfrm>
            <a:off x="9635320" y="3578335"/>
            <a:ext cx="2637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99046" y="4933613"/>
            <a:ext cx="1496836" cy="119250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Final Response Back to Student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45457" y="681484"/>
            <a:ext cx="2197289" cy="357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  <a:spcAft>
                <a:spcPts val="600"/>
              </a:spcAft>
            </a:pPr>
            <a:r>
              <a:rPr lang="en-US" sz="1600" dirty="0"/>
              <a:t>Multi-Agent System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118" y="387458"/>
            <a:ext cx="2769799" cy="1143000"/>
          </a:xfrm>
        </p:spPr>
        <p:txBody>
          <a:bodyPr/>
          <a:lstStyle/>
          <a:p>
            <a:r>
              <a:rPr lang="en-US" dirty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786" y="2000936"/>
            <a:ext cx="3125128" cy="762857"/>
          </a:xfrm>
        </p:spPr>
        <p:txBody>
          <a:bodyPr/>
          <a:lstStyle/>
          <a:p>
            <a:r>
              <a:rPr lang="en-US" sz="2000" dirty="0"/>
              <a:t>Agent Must Cite Evidence for its Response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978786" y="5372095"/>
            <a:ext cx="3125128" cy="752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spcAft>
                <a:spcPts val="400"/>
              </a:spcAft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045" indent="-22415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9105" indent="-22669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4055" indent="-23495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Pattern Recognition and Confidence</a:t>
            </a:r>
            <a:endParaRPr lang="en-US" sz="20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978786" y="3122687"/>
            <a:ext cx="3125128" cy="4250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spcAft>
                <a:spcPts val="400"/>
              </a:spcAft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045" indent="-22415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9105" indent="-22669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4055" indent="-23495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Temporal Priorities: More recent feedback better reflection of current performance  than earlier feedback </a:t>
            </a:r>
            <a:endParaRPr lang="en-US" sz="2000" dirty="0"/>
          </a:p>
        </p:txBody>
      </p:sp>
      <p:sp>
        <p:nvSpPr>
          <p:cNvPr id="7" name="Content Placeholder 2"/>
          <p:cNvSpPr txBox="1"/>
          <p:nvPr/>
        </p:nvSpPr>
        <p:spPr>
          <a:xfrm>
            <a:off x="6096000" y="1940644"/>
            <a:ext cx="5726814" cy="4250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spcAft>
                <a:spcPts val="400"/>
              </a:spcAft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045" indent="-22415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9105" indent="-22669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4055" indent="-23495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Passing summary from text rather than quote itself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8" name="Content Placeholder 2"/>
          <p:cNvSpPr txBox="1"/>
          <p:nvPr/>
        </p:nvSpPr>
        <p:spPr>
          <a:xfrm>
            <a:off x="6096000" y="3547785"/>
            <a:ext cx="5726814" cy="4250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spcAft>
                <a:spcPts val="400"/>
              </a:spcAft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045" indent="-22415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9105" indent="-22669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4055" indent="-23495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Weighting based on date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9" name="Content Placeholder 2"/>
          <p:cNvSpPr txBox="1"/>
          <p:nvPr/>
        </p:nvSpPr>
        <p:spPr>
          <a:xfrm>
            <a:off x="6096000" y="5252878"/>
            <a:ext cx="5726814" cy="752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spcAft>
                <a:spcPts val="400"/>
              </a:spcAft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045" indent="-22415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9105" indent="-226695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4055" indent="-23495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7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Triangulation based on multiple evaluators, across time to identify established pattern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10" name="Right Arrow 9"/>
          <p:cNvSpPr/>
          <p:nvPr/>
        </p:nvSpPr>
        <p:spPr>
          <a:xfrm>
            <a:off x="4528453" y="2246525"/>
            <a:ext cx="1262743" cy="238434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528452" y="3699401"/>
            <a:ext cx="1262743" cy="238434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528452" y="5509928"/>
            <a:ext cx="1262743" cy="238434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7345466" y="387458"/>
            <a:ext cx="2769799" cy="1143000"/>
          </a:xfrm>
          <a:prstGeom prst="rect">
            <a:avLst/>
          </a:prstGeom>
        </p:spPr>
        <p:txBody>
          <a:bodyPr vert="horz" lIns="73152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186" y="109537"/>
            <a:ext cx="11453628" cy="1143000"/>
          </a:xfrm>
        </p:spPr>
        <p:txBody>
          <a:bodyPr/>
          <a:lstStyle/>
          <a:p>
            <a:r>
              <a:rPr lang="en-US" dirty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186" y="1720312"/>
            <a:ext cx="11453628" cy="3951618"/>
          </a:xfrm>
        </p:spPr>
        <p:txBody>
          <a:bodyPr/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500" b="0" dirty="0"/>
              <a:t>Client Happy!</a:t>
            </a:r>
            <a:endParaRPr lang="en-US" sz="2500" b="0" dirty="0"/>
          </a:p>
          <a:p>
            <a:endParaRPr lang="en-US" sz="2500" b="0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500" b="0" dirty="0"/>
              <a:t>Show platform to students to test proof of concept </a:t>
            </a:r>
            <a:endParaRPr lang="en-US" sz="2500" b="0" dirty="0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500" b="0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500" b="0" dirty="0"/>
              <a:t>Adapt to further client feedback based on their findings while exploring the platform</a:t>
            </a:r>
            <a:endParaRPr lang="en-US" sz="2500" b="0" dirty="0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500" b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w2024">
  <a:themeElements>
    <a:clrScheme name="Northwestern Medicine 1">
      <a:dk1>
        <a:srgbClr val="FFFFFF"/>
      </a:dk1>
      <a:lt1>
        <a:srgbClr val="342F2E"/>
      </a:lt1>
      <a:dk2>
        <a:srgbClr val="E3E0EE"/>
      </a:dk2>
      <a:lt2>
        <a:srgbClr val="4E2A83"/>
      </a:lt2>
      <a:accent1>
        <a:srgbClr val="401F68"/>
      </a:accent1>
      <a:accent2>
        <a:srgbClr val="EF553F"/>
      </a:accent2>
      <a:accent3>
        <a:srgbClr val="FFC520"/>
      </a:accent3>
      <a:accent4>
        <a:srgbClr val="008656"/>
      </a:accent4>
      <a:accent5>
        <a:srgbClr val="0D2C6C"/>
      </a:accent5>
      <a:accent6>
        <a:srgbClr val="5091CD"/>
      </a:accent6>
      <a:hlink>
        <a:srgbClr val="684C96"/>
      </a:hlink>
      <a:folHlink>
        <a:srgbClr val="836EAA"/>
      </a:folHlink>
    </a:clrScheme>
    <a:fontScheme name="TeleNeo">
      <a:majorFont>
        <a:latin typeface="Century Gothic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13000"/>
          </a:lnSpc>
          <a:spcAft>
            <a:spcPts val="600"/>
          </a:spcAft>
          <a:defRPr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nw2024</Template>
  <TotalTime>0</TotalTime>
  <Words>2223</Words>
  <Application>WPS 文字</Application>
  <PresentationFormat>Widescreen</PresentationFormat>
  <Paragraphs>108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Century Gothic</vt:lpstr>
      <vt:lpstr>苹方-简</vt:lpstr>
      <vt:lpstr>Aptos Light</vt:lpstr>
      <vt:lpstr>Aptos</vt:lpstr>
      <vt:lpstr>微软雅黑</vt:lpstr>
      <vt:lpstr>汉仪旗黑</vt:lpstr>
      <vt:lpstr>宋体</vt:lpstr>
      <vt:lpstr>Arial Unicode MS</vt:lpstr>
      <vt:lpstr>等线</vt:lpstr>
      <vt:lpstr>汉仪中等线KW</vt:lpstr>
      <vt:lpstr>方正舒体</vt:lpstr>
      <vt:lpstr>Calibri</vt:lpstr>
      <vt:lpstr>Helvetica Neue</vt:lpstr>
      <vt:lpstr>汉仪书宋二KW</vt:lpstr>
      <vt:lpstr>nw2024</vt:lpstr>
      <vt:lpstr>How are medical students trained to be doctors?</vt:lpstr>
      <vt:lpstr>Medical Education Highly Relies on Feedback</vt:lpstr>
      <vt:lpstr>Medical Education Highly Relies on Feedback</vt:lpstr>
      <vt:lpstr>PowerPoint 演示文稿</vt:lpstr>
      <vt:lpstr>Problem</vt:lpstr>
      <vt:lpstr>Student Feedback Analyzer</vt:lpstr>
      <vt:lpstr>Initial Important Features</vt:lpstr>
      <vt:lpstr>I wonder what I can get better at?</vt:lpstr>
      <vt:lpstr>Architecture</vt:lpstr>
      <vt:lpstr>Challenges</vt:lpstr>
      <vt:lpstr>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 Barrios Martinez</dc:creator>
  <cp:lastModifiedBy>Roger He</cp:lastModifiedBy>
  <cp:revision>24</cp:revision>
  <dcterms:created xsi:type="dcterms:W3CDTF">2025-06-13T01:45:57Z</dcterms:created>
  <dcterms:modified xsi:type="dcterms:W3CDTF">2025-06-13T01:45:57Z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53BA06DD58F4B242D5824B682547E7E1_43</vt:lpwstr>
  </property>
  <property fmtid="{D5CDD505-2E9C-101B-9397-08002B2CF9AE}" pid="3" name="KSOProductBuildVer">
    <vt:lpwstr>2052-6.11.0.8615</vt:lpwstr>
  </property>
</Properties>
</file>